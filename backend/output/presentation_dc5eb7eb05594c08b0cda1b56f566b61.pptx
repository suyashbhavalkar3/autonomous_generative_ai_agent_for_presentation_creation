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text styles</a:t>
            </a:r>
          </a:p>
          <a:p>
            <a:pPr lvl="1"/>
            <a:r>
              <a:rPr lang="en-US" smtClean="0" sz="2200">
                <a:solidFill>
                  <a:srgbClr val="CBD5E1"/>
                </a:solidFill>
                <a:latin typeface="Inter"/>
              </a:rPr>
              <a:t>Second level</a:t>
            </a:r>
          </a:p>
          <a:p>
            <a:pPr lvl="2"/>
            <a:r>
              <a:rPr lang="en-US" smtClean="0" sz="2200">
                <a:solidFill>
                  <a:srgbClr val="CBD5E1"/>
                </a:solidFill>
                <a:latin typeface="Inter"/>
              </a:rPr>
              <a:t>Third level</a:t>
            </a:r>
          </a:p>
          <a:p>
            <a:pPr lvl="3"/>
            <a:r>
              <a:rPr lang="en-US" smtClean="0" sz="2200">
                <a:solidFill>
                  <a:srgbClr val="CBD5E1"/>
                </a:solidFill>
                <a:latin typeface="Inter"/>
              </a:rPr>
              <a:t>Fourth level</a:t>
            </a:r>
          </a:p>
          <a:p>
            <a:pPr lvl="4"/>
            <a:r>
              <a:rPr lang="en-US" smtClean="0" sz="2200">
                <a:solidFill>
                  <a:srgbClr val="CBD5E1"/>
                </a:solidFill>
                <a:latin typeface="Inter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text styles</a:t>
            </a:r>
          </a:p>
          <a:p>
            <a:pPr lvl="1"/>
            <a:r>
              <a:rPr lang="en-US" smtClean="0" sz="2200">
                <a:solidFill>
                  <a:srgbClr val="CBD5E1"/>
                </a:solidFill>
                <a:latin typeface="Inter"/>
              </a:rPr>
              <a:t>Second level</a:t>
            </a:r>
          </a:p>
          <a:p>
            <a:pPr lvl="2"/>
            <a:r>
              <a:rPr lang="en-US" smtClean="0" sz="2200">
                <a:solidFill>
                  <a:srgbClr val="CBD5E1"/>
                </a:solidFill>
                <a:latin typeface="Inter"/>
              </a:rPr>
              <a:t>Third level</a:t>
            </a:r>
          </a:p>
          <a:p>
            <a:pPr lvl="3"/>
            <a:r>
              <a:rPr lang="en-US" smtClean="0" sz="2200">
                <a:solidFill>
                  <a:srgbClr val="CBD5E1"/>
                </a:solidFill>
                <a:latin typeface="Inter"/>
              </a:rPr>
              <a:t>Fourth level</a:t>
            </a:r>
          </a:p>
          <a:p>
            <a:pPr lvl="4"/>
            <a:r>
              <a:rPr lang="en-US" smtClean="0" sz="2200">
                <a:solidFill>
                  <a:srgbClr val="CBD5E1"/>
                </a:solidFill>
                <a:latin typeface="Inter"/>
              </a:rPr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text styles</a:t>
            </a:r>
          </a:p>
          <a:p>
            <a:pPr lvl="1"/>
            <a:r>
              <a:rPr lang="en-US" smtClean="0" sz="2200">
                <a:solidFill>
                  <a:srgbClr val="CBD5E1"/>
                </a:solidFill>
                <a:latin typeface="Inter"/>
              </a:rPr>
              <a:t>Second level</a:t>
            </a:r>
          </a:p>
          <a:p>
            <a:pPr lvl="2"/>
            <a:r>
              <a:rPr lang="en-US" smtClean="0" sz="2200">
                <a:solidFill>
                  <a:srgbClr val="CBD5E1"/>
                </a:solidFill>
                <a:latin typeface="Inter"/>
              </a:rPr>
              <a:t>Third level</a:t>
            </a:r>
          </a:p>
          <a:p>
            <a:pPr lvl="3"/>
            <a:r>
              <a:rPr lang="en-US" smtClean="0" sz="2200">
                <a:solidFill>
                  <a:srgbClr val="CBD5E1"/>
                </a:solidFill>
                <a:latin typeface="Inter"/>
              </a:rPr>
              <a:t>Fourth level</a:t>
            </a:r>
          </a:p>
          <a:p>
            <a:pPr lvl="4"/>
            <a:r>
              <a:rPr lang="en-US" smtClean="0" sz="2200">
                <a:solidFill>
                  <a:srgbClr val="CBD5E1"/>
                </a:solidFill>
                <a:latin typeface="Inter"/>
              </a:rPr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text styles</a:t>
            </a:r>
          </a:p>
          <a:p>
            <a:pPr lvl="1"/>
            <a:r>
              <a:rPr lang="en-US" smtClean="0" sz="2200">
                <a:solidFill>
                  <a:srgbClr val="CBD5E1"/>
                </a:solidFill>
                <a:latin typeface="Inter"/>
              </a:rPr>
              <a:t>Second level</a:t>
            </a:r>
          </a:p>
          <a:p>
            <a:pPr lvl="2"/>
            <a:r>
              <a:rPr lang="en-US" smtClean="0" sz="2200">
                <a:solidFill>
                  <a:srgbClr val="CBD5E1"/>
                </a:solidFill>
                <a:latin typeface="Inter"/>
              </a:rPr>
              <a:t>Third level</a:t>
            </a:r>
          </a:p>
          <a:p>
            <a:pPr lvl="3"/>
            <a:r>
              <a:rPr lang="en-US" smtClean="0" sz="2200">
                <a:solidFill>
                  <a:srgbClr val="CBD5E1"/>
                </a:solidFill>
                <a:latin typeface="Inter"/>
              </a:rPr>
              <a:t>Fourth level</a:t>
            </a:r>
          </a:p>
          <a:p>
            <a:pPr lvl="4"/>
            <a:r>
              <a:rPr lang="en-US" smtClean="0" sz="2200">
                <a:solidFill>
                  <a:srgbClr val="CBD5E1"/>
                </a:solidFill>
                <a:latin typeface="Inter"/>
              </a:rPr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text styles</a:t>
            </a:r>
          </a:p>
          <a:p>
            <a:pPr lvl="1"/>
            <a:r>
              <a:rPr lang="en-US" smtClean="0" sz="2200">
                <a:solidFill>
                  <a:srgbClr val="CBD5E1"/>
                </a:solidFill>
                <a:latin typeface="Inter"/>
              </a:rPr>
              <a:t>Second level</a:t>
            </a:r>
          </a:p>
          <a:p>
            <a:pPr lvl="2"/>
            <a:r>
              <a:rPr lang="en-US" smtClean="0" sz="2200">
                <a:solidFill>
                  <a:srgbClr val="CBD5E1"/>
                </a:solidFill>
                <a:latin typeface="Inter"/>
              </a:rPr>
              <a:t>Third level</a:t>
            </a:r>
          </a:p>
          <a:p>
            <a:pPr lvl="3"/>
            <a:r>
              <a:rPr lang="en-US" smtClean="0" sz="2200">
                <a:solidFill>
                  <a:srgbClr val="CBD5E1"/>
                </a:solidFill>
                <a:latin typeface="Inter"/>
              </a:rPr>
              <a:t>Fourth level</a:t>
            </a:r>
          </a:p>
          <a:p>
            <a:pPr lvl="4"/>
            <a:r>
              <a:rPr lang="en-US" smtClean="0" sz="2200">
                <a:solidFill>
                  <a:srgbClr val="CBD5E1"/>
                </a:solidFill>
                <a:latin typeface="Inter"/>
              </a:rPr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text styles</a:t>
            </a:r>
          </a:p>
          <a:p>
            <a:pPr lvl="1"/>
            <a:r>
              <a:rPr lang="en-US" smtClean="0" sz="2200">
                <a:solidFill>
                  <a:srgbClr val="CBD5E1"/>
                </a:solidFill>
                <a:latin typeface="Inter"/>
              </a:rPr>
              <a:t>Second level</a:t>
            </a:r>
          </a:p>
          <a:p>
            <a:pPr lvl="2"/>
            <a:r>
              <a:rPr lang="en-US" smtClean="0" sz="2200">
                <a:solidFill>
                  <a:srgbClr val="CBD5E1"/>
                </a:solidFill>
                <a:latin typeface="Inter"/>
              </a:rPr>
              <a:t>Third level</a:t>
            </a:r>
          </a:p>
          <a:p>
            <a:pPr lvl="3"/>
            <a:r>
              <a:rPr lang="en-US" smtClean="0" sz="2200">
                <a:solidFill>
                  <a:srgbClr val="CBD5E1"/>
                </a:solidFill>
                <a:latin typeface="Inter"/>
              </a:rPr>
              <a:t>Fourth level</a:t>
            </a:r>
          </a:p>
          <a:p>
            <a:pPr lvl="4"/>
            <a:r>
              <a:rPr lang="en-US" smtClean="0" sz="2200">
                <a:solidFill>
                  <a:srgbClr val="CBD5E1"/>
                </a:solidFill>
                <a:latin typeface="Inter"/>
              </a:rPr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text styles</a:t>
            </a:r>
          </a:p>
          <a:p>
            <a:pPr lvl="1"/>
            <a:r>
              <a:rPr lang="en-US" smtClean="0" sz="2200">
                <a:solidFill>
                  <a:srgbClr val="CBD5E1"/>
                </a:solidFill>
                <a:latin typeface="Inter"/>
              </a:rPr>
              <a:t>Second level</a:t>
            </a:r>
          </a:p>
          <a:p>
            <a:pPr lvl="2"/>
            <a:r>
              <a:rPr lang="en-US" smtClean="0" sz="2200">
                <a:solidFill>
                  <a:srgbClr val="CBD5E1"/>
                </a:solidFill>
                <a:latin typeface="Inter"/>
              </a:rPr>
              <a:t>Third level</a:t>
            </a:r>
          </a:p>
          <a:p>
            <a:pPr lvl="3"/>
            <a:r>
              <a:rPr lang="en-US" smtClean="0" sz="2200">
                <a:solidFill>
                  <a:srgbClr val="CBD5E1"/>
                </a:solidFill>
                <a:latin typeface="Inter"/>
              </a:rPr>
              <a:t>Fourth level</a:t>
            </a:r>
          </a:p>
          <a:p>
            <a:pPr lvl="4"/>
            <a:r>
              <a:rPr lang="en-US" smtClean="0" sz="2200">
                <a:solidFill>
                  <a:srgbClr val="CBD5E1"/>
                </a:solidFill>
                <a:latin typeface="Inter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 sz="2200">
                <a:solidFill>
                  <a:srgbClr val="CBD5E1"/>
                </a:solidFill>
                <a:latin typeface="Inter"/>
              </a:rPr>
              <a:t>Click to edit Master text styles</a:t>
            </a:r>
          </a:p>
          <a:p>
            <a:pPr lvl="1"/>
            <a:r>
              <a:rPr lang="en-US" smtClean="0" sz="2200">
                <a:solidFill>
                  <a:srgbClr val="CBD5E1"/>
                </a:solidFill>
                <a:latin typeface="Inter"/>
              </a:rPr>
              <a:t>Second level</a:t>
            </a:r>
          </a:p>
          <a:p>
            <a:pPr lvl="2"/>
            <a:r>
              <a:rPr lang="en-US" smtClean="0" sz="2200">
                <a:solidFill>
                  <a:srgbClr val="CBD5E1"/>
                </a:solidFill>
                <a:latin typeface="Inter"/>
              </a:rPr>
              <a:t>Third level</a:t>
            </a:r>
          </a:p>
          <a:p>
            <a:pPr lvl="3"/>
            <a:r>
              <a:rPr lang="en-US" smtClean="0" sz="2200">
                <a:solidFill>
                  <a:srgbClr val="CBD5E1"/>
                </a:solidFill>
                <a:latin typeface="Inter"/>
              </a:rPr>
              <a:t>Fourth level</a:t>
            </a:r>
          </a:p>
          <a:p>
            <a:pPr lvl="4"/>
            <a:r>
              <a:rPr lang="en-US" smtClean="0" sz="2200">
                <a:solidFill>
                  <a:srgbClr val="CBD5E1"/>
                </a:solidFill>
                <a:latin typeface="Inter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CBD5E1"/>
                </a:solidFill>
                <a:latin typeface="Inter"/>
              </a:rPr>
              <a:t>Overview of Photosynthesis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78308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CBD5E1"/>
                </a:solidFill>
                <a:latin typeface="Inter"/>
              </a:rPr>
              <a:t>Photosynthesis converts light energy into chemical energy</a:t>
            </a:r>
          </a:p>
          <a:p>
            <a:r>
              <a:rPr sz="2200">
                <a:solidFill>
                  <a:srgbClr val="CBD5E1"/>
                </a:solidFill>
                <a:latin typeface="Inter"/>
              </a:rPr>
              <a:t>Occurs in chloroplasts of plant cells</a:t>
            </a:r>
          </a:p>
          <a:p>
            <a:r>
              <a:rPr sz="2200">
                <a:solidFill>
                  <a:srgbClr val="CBD5E1"/>
                </a:solidFill>
                <a:latin typeface="Inter"/>
              </a:rPr>
              <a:t>Two main stages: light-dependent reactions and Calvin cycle</a:t>
            </a:r>
          </a:p>
        </p:txBody>
      </p:sp>
      <p:sp>
        <p:nvSpPr>
          <p:cNvPr id="4" name="Rectangle 3"/>
          <p:cNvSpPr/>
          <p:nvPr/>
        </p:nvSpPr>
        <p:spPr>
          <a:xfrm>
            <a:off x="4846320" y="1783080"/>
            <a:ext cx="3657600" cy="2286000"/>
          </a:xfrm>
          <a:prstGeom prst="rect">
            <a:avLst/>
          </a:prstGeom>
          <a:solidFill>
            <a:srgbClr val="282828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CBD5E1"/>
                </a:solidFill>
                <a:latin typeface="Inter"/>
              </a:rPr>
              <a:t>Light-Dependent Reactions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78308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CBD5E1"/>
                </a:solidFill>
                <a:latin typeface="Inter"/>
              </a:rPr>
              <a:t>Light energy splits water molecules</a:t>
            </a:r>
          </a:p>
          <a:p>
            <a:r>
              <a:rPr sz="2200">
                <a:solidFill>
                  <a:srgbClr val="CBD5E1"/>
                </a:solidFill>
                <a:latin typeface="Inter"/>
              </a:rPr>
              <a:t>Produces ATP and NADPH</a:t>
            </a:r>
          </a:p>
          <a:p>
            <a:r>
              <a:rPr sz="2200">
                <a:solidFill>
                  <a:srgbClr val="CBD5E1"/>
                </a:solidFill>
                <a:latin typeface="Inter"/>
              </a:rPr>
              <a:t>Takes place in thylakoid membranes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846320" y="1783080"/>
            <a:ext cx="3657600" cy="2286000"/>
          </a:xfrm>
          <a:prstGeom prst="rect">
            <a:avLst/>
          </a:prstGeom>
          <a:solidFill>
            <a:srgbClr val="282828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CBD5E1"/>
                </a:solidFill>
                <a:latin typeface="Inter"/>
              </a:rPr>
              <a:t>Calvin 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78308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CBD5E1"/>
                </a:solidFill>
                <a:latin typeface="Inter"/>
              </a:rPr>
              <a:t>Uses ATP and NADPH</a:t>
            </a:r>
          </a:p>
          <a:p>
            <a:r>
              <a:rPr sz="2200">
                <a:solidFill>
                  <a:srgbClr val="CBD5E1"/>
                </a:solidFill>
                <a:latin typeface="Inter"/>
              </a:rPr>
              <a:t>Converts carbon dioxide into glucose</a:t>
            </a:r>
          </a:p>
          <a:p>
            <a:r>
              <a:rPr sz="2200">
                <a:solidFill>
                  <a:srgbClr val="CBD5E1"/>
                </a:solidFill>
                <a:latin typeface="Inter"/>
              </a:rPr>
              <a:t>Essential for producing food for plants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846320" y="1783080"/>
            <a:ext cx="3657600" cy="2286000"/>
          </a:xfrm>
          <a:prstGeom prst="rect">
            <a:avLst/>
          </a:prstGeom>
          <a:solidFill>
            <a:srgbClr val="282828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CBD5E1"/>
                </a:solidFill>
                <a:latin typeface="Inter"/>
              </a:rPr>
              <a:t>Importance of Photosynthesis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78308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CBD5E1"/>
                </a:solidFill>
                <a:latin typeface="Inter"/>
              </a:rPr>
              <a:t>Produces oxygen</a:t>
            </a:r>
          </a:p>
          <a:p>
            <a:r>
              <a:rPr sz="2200">
                <a:solidFill>
                  <a:srgbClr val="CBD5E1"/>
                </a:solidFill>
                <a:latin typeface="Inter"/>
              </a:rPr>
              <a:t>Foundation of the food chain</a:t>
            </a:r>
          </a:p>
          <a:p>
            <a:r>
              <a:rPr sz="2200">
                <a:solidFill>
                  <a:srgbClr val="CBD5E1"/>
                </a:solidFill>
                <a:latin typeface="Inter"/>
              </a:rPr>
              <a:t>Essential for life on Earth</a:t>
            </a:r>
          </a:p>
        </p:txBody>
      </p:sp>
      <p:sp>
        <p:nvSpPr>
          <p:cNvPr id="4" name="Rectangle 3"/>
          <p:cNvSpPr/>
          <p:nvPr/>
        </p:nvSpPr>
        <p:spPr>
          <a:xfrm>
            <a:off x="4846320" y="1783080"/>
            <a:ext cx="3657600" cy="2286000"/>
          </a:xfrm>
          <a:prstGeom prst="rect">
            <a:avLst/>
          </a:prstGeom>
          <a:solidFill>
            <a:srgbClr val="282828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CBD5E1"/>
                </a:solidFill>
                <a:latin typeface="Inter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78308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CBD5E1"/>
                </a:solidFill>
                <a:latin typeface="Inter"/>
              </a:rPr>
              <a:t>Photosynthesis is a vital process for plants, algae, and some bacteria</a:t>
            </a:r>
          </a:p>
          <a:p>
            <a:r>
              <a:rPr sz="2200">
                <a:solidFill>
                  <a:srgbClr val="CBD5E1"/>
                </a:solidFill>
                <a:latin typeface="Inter"/>
              </a:rPr>
              <a:t>Converts light energy into chemical energy</a:t>
            </a:r>
          </a:p>
          <a:p>
            <a:r>
              <a:rPr sz="2200">
                <a:solidFill>
                  <a:srgbClr val="CBD5E1"/>
                </a:solidFill>
                <a:latin typeface="Inter"/>
              </a:rPr>
              <a:t>Splits water molecules and produces glucose</a:t>
            </a:r>
          </a:p>
        </p:txBody>
      </p:sp>
      <p:sp>
        <p:nvSpPr>
          <p:cNvPr id="4" name="Rectangle 3"/>
          <p:cNvSpPr/>
          <p:nvPr/>
        </p:nvSpPr>
        <p:spPr>
          <a:xfrm>
            <a:off x="4846320" y="1783080"/>
            <a:ext cx="3657600" cy="2286000"/>
          </a:xfrm>
          <a:prstGeom prst="rect">
            <a:avLst/>
          </a:prstGeom>
          <a:solidFill>
            <a:srgbClr val="282828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